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6" r:id="rId14"/>
    <p:sldId id="270" r:id="rId15"/>
    <p:sldId id="272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61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59" d="100"/>
          <a:sy n="59" d="100"/>
        </p:scale>
        <p:origin x="83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D73C3-5E17-4203-BF19-8EC7AA7DA7AC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4B3B54-A23F-4030-BEB5-CEEF90FDA9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929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B3B54-A23F-4030-BEB5-CEEF90FDA9F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865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B3B54-A23F-4030-BEB5-CEEF90FDA9F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280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2347D-02F7-6245-03B7-E903BB9CC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50D5BD-450F-FE3C-18F6-12A8612A2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C616F-2196-E0F0-823C-27C308503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E236-5623-48FA-BCAA-BFC6DE1BC47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02707-B4FF-18EC-01F9-FA9E0F479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60253-6673-4509-E2B9-6A6F12A84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F683-A95D-42C9-82E5-2820B7E23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86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46FEF-4BDF-36FD-1C06-DC54D24B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CB5C3-4FE9-72E2-E416-7A85CC9FF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06D7B-CA21-2D8D-DA4E-6D00F8579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E236-5623-48FA-BCAA-BFC6DE1BC47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E6C56-EEF3-B731-0255-5BB1904C7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FB1A6-E51D-797F-86AB-555C7C94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F683-A95D-42C9-82E5-2820B7E23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07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8300C-11C3-D06F-02CE-62F38FAB4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FCABD-8EFE-BE7E-3423-955E05EF2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B657C-7AC2-01EF-73E6-4FA59370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E236-5623-48FA-BCAA-BFC6DE1BC47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57941-E9CB-D5A1-C968-CF57A4E0E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0568F-7F9E-3E74-0E9D-C6B3CF2E0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F683-A95D-42C9-82E5-2820B7E23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815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71F68-14AC-3EDA-4221-4B9710853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6993D-CE56-B7CE-8920-916C4E2B9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E2785-B097-727F-1C4A-F6D628B72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AE5C0-E4C3-70FE-7E01-A1E8A286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E236-5623-48FA-BCAA-BFC6DE1BC47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8B647-42AD-58BE-5165-265BC84CC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E894D-C975-B499-4949-54BE3998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F683-A95D-42C9-82E5-2820B7E23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799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60B00-BD51-6F8E-FEFC-002892009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89E86-5112-7CF6-0ABF-AD79FFBED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FE3FE-1816-CF40-D305-66973418F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C3EB04-8FAA-46B9-8DA0-F7A787C300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7CD059-24A6-97E4-E065-5139D7345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281A24-694A-DD3B-4891-1484EDE8F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E236-5623-48FA-BCAA-BFC6DE1BC47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E58680-AD04-5BA1-5EAB-417D8A0E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9BB1D6-661E-245F-D2FE-F50BBB78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F683-A95D-42C9-82E5-2820B7E23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644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B1D59-3E5D-9DD3-8ACE-0D34BC5A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F332C8-C4D6-BFB4-1C7F-A3AC0077E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E236-5623-48FA-BCAA-BFC6DE1BC47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83E3DE-06B5-1693-A224-5033677D5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FA40D-0AE0-56F8-385A-39147046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F683-A95D-42C9-82E5-2820B7E23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226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C1E0A8-B53A-244E-A38A-F030E4692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E236-5623-48FA-BCAA-BFC6DE1BC47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929DE6-FBB7-F98B-6611-E087C0BD7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6A539-59A0-045D-9AFE-C441D4630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F683-A95D-42C9-82E5-2820B7E23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756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AE37F-ADAF-C43C-15AC-AC0B559A8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21C41-3513-6719-6A37-0C37700DF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B36B16-6127-0875-941E-EB436307A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A43E8-5323-7DE9-8856-002D3D251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E236-5623-48FA-BCAA-BFC6DE1BC47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460B6-AE4F-DBA5-3DF2-E04FE23C8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1C47E-8668-709A-EAE0-9D0E1A74A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F683-A95D-42C9-82E5-2820B7E23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711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094EB-E06A-7160-2E0F-69AD9D1FB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1004F8-A689-CADA-66E0-3F207BDA5E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77067-E321-C602-1D58-E4462ECAF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5CC69-BF08-BF50-CA6C-27AD43BC9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E236-5623-48FA-BCAA-BFC6DE1BC47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A892C-D14B-1658-6E43-6A060AFF3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1C45A-3DA9-77F6-0272-CA2C44F9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F683-A95D-42C9-82E5-2820B7E23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166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52AFE-5D39-6B63-6AAD-336E52D5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6544A-8389-ABD8-0566-4BE6249C6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E726F-6F64-EF8D-671E-BA1C487A3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E236-5623-48FA-BCAA-BFC6DE1BC47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13E57-5F56-E14D-FAB6-5493DF13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E93BE-8147-4570-F951-082C3A40D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F683-A95D-42C9-82E5-2820B7E23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FC20FA-1495-5B1B-0CAC-3C9164E6A1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607E69-7382-11CC-F877-6B4A48094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284F4-ECEE-C80A-8DA8-4540A43A6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E236-5623-48FA-BCAA-BFC6DE1BC47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E93E1-79FC-CDB1-127B-59BAADB4C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61C0-165D-409C-3049-57A90A09D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F683-A95D-42C9-82E5-2820B7E23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46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41FFC-248A-BAF8-80F7-5AAAA2717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86FED-EDBD-DF60-78A9-54D0FAD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F70FB-8155-4F84-32C1-180D19EB2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D0E236-5623-48FA-BCAA-BFC6DE1BC47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E038-D4BE-0C61-46DD-5A18BC6B6D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285CD-2136-34B4-CE0F-11FE21E1B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EF683-A95D-42C9-82E5-2820B7E23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886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AEA5-E9C3-08D9-C9D5-54C7C5DF1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dirty="0" err="1"/>
              <a:t>NextHikes</a:t>
            </a:r>
            <a:r>
              <a:rPr lang="en-IN" sz="4000" dirty="0"/>
              <a:t> IT Solutions </a:t>
            </a:r>
            <a:br>
              <a:rPr lang="en-IN" sz="1600" dirty="0"/>
            </a:br>
            <a:r>
              <a:rPr lang="en-IN" sz="3200" dirty="0"/>
              <a:t>Project-1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A336DF-EE6A-F812-AA97-86D1FD9DF0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dirty="0"/>
              <a:t>Bike Sharing Demand Analysis Project Using Excel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3164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TextBox 2">
            <a:extLst>
              <a:ext uri="{FF2B5EF4-FFF2-40B4-BE49-F238E27FC236}">
                <a16:creationId xmlns:a16="http://schemas.microsoft.com/office/drawing/2014/main" id="{064B4722-E2B8-7C95-D899-730DBF36135D}"/>
              </a:ext>
            </a:extLst>
          </p:cNvPr>
          <p:cNvSpPr txBox="1"/>
          <p:nvPr/>
        </p:nvSpPr>
        <p:spPr>
          <a:xfrm>
            <a:off x="1" y="-106872"/>
            <a:ext cx="12191999" cy="7133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        Agenda</a:t>
            </a:r>
          </a:p>
          <a:p>
            <a:endParaRPr lang="en-IN" sz="2800" b="1" dirty="0"/>
          </a:p>
          <a:p>
            <a:endParaRPr lang="en-IN" sz="2400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IN" sz="2400" dirty="0"/>
              <a:t>Bike Sharing Demand Overview</a:t>
            </a:r>
            <a:endParaRPr lang="en-IN" sz="2400" b="1" dirty="0"/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sz="2400" dirty="0"/>
              <a:t>   Weekday vs Weekend Rental Analysis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sz="2400" dirty="0"/>
              <a:t>   Day-wise User Behaviour Analysis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sz="2400" dirty="0"/>
              <a:t>   Weather-wise Bike Rental Demand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sz="2400" dirty="0"/>
              <a:t>  Monthly Performance Comparison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sz="2400" dirty="0"/>
              <a:t>  Casual vs Registered User Comparison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sz="2400" dirty="0"/>
              <a:t>  Key Insights &amp; Observations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sz="2400" dirty="0"/>
              <a:t>  Conclusion</a:t>
            </a:r>
          </a:p>
        </p:txBody>
      </p:sp>
    </p:spTree>
    <p:extLst>
      <p:ext uri="{BB962C8B-B14F-4D97-AF65-F5344CB8AC3E}">
        <p14:creationId xmlns:p14="http://schemas.microsoft.com/office/powerpoint/2010/main" val="4190470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days and months&#10;&#10;AI-generated content may be incorrect.">
            <a:extLst>
              <a:ext uri="{FF2B5EF4-FFF2-40B4-BE49-F238E27FC236}">
                <a16:creationId xmlns:a16="http://schemas.microsoft.com/office/drawing/2014/main" id="{54A69CF2-8F73-B5AC-6197-1700E57FE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71" y="982080"/>
            <a:ext cx="10046857" cy="490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70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62B547-CBF7-4BD9-1D0E-787635F67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425423"/>
            <a:ext cx="12192000" cy="9222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400" b="1" dirty="0"/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400" b="1" dirty="0"/>
          </a:p>
          <a:p>
            <a:pPr algn="ctr">
              <a:lnSpc>
                <a:spcPct val="250000"/>
              </a:lnSpc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250000"/>
              </a:lnSpc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Bike Sharing Demand Overview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bar chart clearly indicates that bike rentals are higher on weekends compared to weekdays.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During weekdays, bikes are rented less frequently than on weekends.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Casual bike rentals are significantly higher on weekends, while they are lower on weekdays.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number of registered users is higher on Thursday and Friday compared to other days of the week.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total number of bike rentals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cnt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also peaks on Thursday and Friday.</a:t>
            </a:r>
          </a:p>
        </p:txBody>
      </p:sp>
    </p:spTree>
    <p:extLst>
      <p:ext uri="{BB962C8B-B14F-4D97-AF65-F5344CB8AC3E}">
        <p14:creationId xmlns:p14="http://schemas.microsoft.com/office/powerpoint/2010/main" val="4115606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n a screen&#10;&#10;AI-generated content may be incorrect.">
            <a:extLst>
              <a:ext uri="{FF2B5EF4-FFF2-40B4-BE49-F238E27FC236}">
                <a16:creationId xmlns:a16="http://schemas.microsoft.com/office/drawing/2014/main" id="{DD07C736-3A36-1C4E-A128-9A87E6105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93" y="1037891"/>
            <a:ext cx="9231013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79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5BD30E-A17D-F5BA-0D4C-38DB2E43E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787058"/>
            <a:ext cx="18473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EEAC37-C7F1-A6FB-C878-118454176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-2341992"/>
            <a:ext cx="121920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400" b="1" dirty="0"/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4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0A4E50-1E7A-C211-60FA-08CC2AB5C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566247"/>
            <a:ext cx="12191999" cy="8420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Weekday vs Weekend Rental Analysis</a:t>
            </a: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Weekday rentals are driven primarily by registered users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indicating regular commuting patterns.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Total bike demand is higher on weekdays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with peak usage observed on Thursday and Friday.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Weekend rentals show increased casual user participation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reflecting leisure and recreational travel.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Despite higher casual usage on weekends, overall rentals remain lower than peak weekdays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due to reduced registered user activity</a:t>
            </a:r>
          </a:p>
        </p:txBody>
      </p:sp>
    </p:spTree>
    <p:extLst>
      <p:ext uri="{BB962C8B-B14F-4D97-AF65-F5344CB8AC3E}">
        <p14:creationId xmlns:p14="http://schemas.microsoft.com/office/powerpoint/2010/main" val="653480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21ACD7-B73D-18D8-26C4-7D0D44879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440" y="1199839"/>
            <a:ext cx="9631119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884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686626-FB7E-FD83-2718-932AD896E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308753"/>
            <a:ext cx="12192000" cy="7104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400" b="1" dirty="0"/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400" b="1" dirty="0"/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400" b="1" dirty="0"/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D57E907-9DE9-FDFA-D53C-54E534A97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-3360533"/>
            <a:ext cx="12192000" cy="8558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Weather-wise Bike Rental Demand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Clear and partly cloudy weather drives the highest bike rentals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showing strong user preference for favorable conditions.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Registered users contribute the majority of demand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across all weather types, highlighting consistent usage patterns.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Rental demand declines significantly during rain and snow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indicating sensitivity to adverse weather conditions.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Heavy precipitation results in minimal bike usage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making weather forecasting critical for operational planning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6143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92230BD2-9DCC-A09F-3A55-DAC696456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884" y="796083"/>
            <a:ext cx="8694183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469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39A75F-226E-BD89-5FA7-5A63F174486C}"/>
              </a:ext>
            </a:extLst>
          </p:cNvPr>
          <p:cNvSpPr txBox="1"/>
          <p:nvPr/>
        </p:nvSpPr>
        <p:spPr>
          <a:xfrm>
            <a:off x="1" y="0"/>
            <a:ext cx="12192000" cy="4034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sz="2400" b="1" dirty="0"/>
          </a:p>
          <a:p>
            <a:pPr algn="ctr">
              <a:lnSpc>
                <a:spcPct val="250000"/>
              </a:lnSpc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Monthly Performance Comparison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Registered users drive most of the total usage in both months.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Month 1 outperforms Month 2 across all metrics.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Casual user contribution is comparatively small but stable.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Total count closely follows the registered user trend.</a:t>
            </a:r>
          </a:p>
        </p:txBody>
      </p:sp>
    </p:spTree>
    <p:extLst>
      <p:ext uri="{BB962C8B-B14F-4D97-AF65-F5344CB8AC3E}">
        <p14:creationId xmlns:p14="http://schemas.microsoft.com/office/powerpoint/2010/main" val="3930427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n a screen&#10;&#10;AI-generated content may be incorrect.">
            <a:extLst>
              <a:ext uri="{FF2B5EF4-FFF2-40B4-BE49-F238E27FC236}">
                <a16:creationId xmlns:a16="http://schemas.microsoft.com/office/drawing/2014/main" id="{1097A7DA-A72B-6500-6D30-3985B3275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93" y="1037891"/>
            <a:ext cx="9231013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474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5EEFDD-8406-0EE2-839F-A2706D519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032131"/>
            <a:ext cx="12192000" cy="10064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N" sz="2400" b="1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N" sz="2400" b="1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N" sz="24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7E6186D-D894-BC02-5BD9-2AF7D0761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779067"/>
            <a:ext cx="12192000" cy="7173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Casual vs Registered User Comparison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Registered users dominate total bike usage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throughout the week, indicating regular commuting behavior.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Midweek (Tuesday–Thursday) records the highest demand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with a clear peak on Thursday, driven mainly by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registered users.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Casual user activity increases on weekends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especially on Saturday and Sunday, reflecting leisure-oriented usage.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Registered user demand declines on weekends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resulting in lower overall rentals despite higher casual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3551006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E4BE99-A5D3-F990-18AE-31AC39124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0087"/>
            <a:ext cx="12192000" cy="509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39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B423A0-617A-2737-F9EF-2A7F69633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575573"/>
            <a:ext cx="12192000" cy="9140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Key Insights &amp; Observations</a:t>
            </a:r>
            <a:endParaRPr lang="en-US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Registered users are the primary contributors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bike rentals, especially on weekdays, indicating strong commuting behavior.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Peak demand occurs on Thursday and Friday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suggesting higher mid-week mobility requirements.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Casual users show higher activity on weekends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reflecting leisure and recreational usage patterns.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Weather significantly influences demand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—clear and partly cloudy conditions drive maximum usage, while rain and  snow sharply reduce rentals.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954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6354C2-441F-5F54-0F52-ECAD174FC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07532"/>
            <a:ext cx="12192000" cy="7543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250000"/>
              </a:lnSpc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250000"/>
              </a:lnSpc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Registered users dominate bike rentals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with peak demand on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Thursday and Friday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showing strong weekday commuting patterns.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Casual users are more active on weekends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indicating leisure-based usage, while overall demand drops on Sundays.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Weather significantly impacts demand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—clear conditions drive maximum usage, while rain and heavy precipitation sharply reduce rentals.</a:t>
            </a:r>
          </a:p>
        </p:txBody>
      </p:sp>
    </p:spTree>
    <p:extLst>
      <p:ext uri="{BB962C8B-B14F-4D97-AF65-F5344CB8AC3E}">
        <p14:creationId xmlns:p14="http://schemas.microsoft.com/office/powerpoint/2010/main" val="1820061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B1BCBC-E451-3FCF-D1B5-00C09CFAA8B0}"/>
              </a:ext>
            </a:extLst>
          </p:cNvPr>
          <p:cNvSpPr txBox="1"/>
          <p:nvPr/>
        </p:nvSpPr>
        <p:spPr>
          <a:xfrm>
            <a:off x="0" y="414866"/>
            <a:ext cx="12192000" cy="230832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lvl="1"/>
            <a:r>
              <a:rPr lang="en-IN" sz="7200" b="1" dirty="0"/>
              <a:t>                                                                                                 			</a:t>
            </a:r>
            <a:r>
              <a:rPr lang="en-IN" sz="7200" b="1" dirty="0">
                <a:latin typeface="Arial" panose="020B0604020202020204" pitchFamily="34" charset="0"/>
                <a:cs typeface="Arial" panose="020B0604020202020204" pitchFamily="34" charset="0"/>
              </a:rPr>
              <a:t>Thank</a:t>
            </a:r>
            <a:r>
              <a:rPr lang="en-IN" sz="7200" b="1" dirty="0"/>
              <a:t> You</a:t>
            </a:r>
          </a:p>
        </p:txBody>
      </p:sp>
    </p:spTree>
    <p:extLst>
      <p:ext uri="{BB962C8B-B14F-4D97-AF65-F5344CB8AC3E}">
        <p14:creationId xmlns:p14="http://schemas.microsoft.com/office/powerpoint/2010/main" val="599388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539</Words>
  <Application>Microsoft Office PowerPoint</Application>
  <PresentationFormat>Widescreen</PresentationFormat>
  <Paragraphs>205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NextHikes IT Solutions  Project-1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Shiwangi Shahi</dc:creator>
  <cp:lastModifiedBy>Shiwangi Shahi</cp:lastModifiedBy>
  <cp:revision>39</cp:revision>
  <dcterms:created xsi:type="dcterms:W3CDTF">2025-12-24T06:48:34Z</dcterms:created>
  <dcterms:modified xsi:type="dcterms:W3CDTF">2026-01-17T14:36:18Z</dcterms:modified>
</cp:coreProperties>
</file>